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2" r:id="rId12"/>
    <p:sldId id="303" r:id="rId13"/>
    <p:sldId id="266" r:id="rId14"/>
    <p:sldId id="284" r:id="rId15"/>
    <p:sldId id="286" r:id="rId16"/>
    <p:sldId id="289" r:id="rId17"/>
    <p:sldId id="290" r:id="rId18"/>
    <p:sldId id="291" r:id="rId19"/>
    <p:sldId id="292" r:id="rId20"/>
    <p:sldId id="299" r:id="rId21"/>
    <p:sldId id="300" r:id="rId22"/>
    <p:sldId id="30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9" d="100"/>
          <a:sy n="139" d="100"/>
        </p:scale>
        <p:origin x="132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tchelsellers/2026-real-world-blazor-workshop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109728" cy="5303520"/>
          </a:xfrm>
          <a:prstGeom prst="rect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914400"/>
            <a:ext cx="9875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 Display"/>
              </a:rPr>
              <a:t>From Idea to Production</a:t>
            </a:r>
          </a:p>
          <a:p>
            <a:r>
              <a:rPr sz="2700">
                <a:solidFill>
                  <a:srgbClr val="D7E1EB"/>
                </a:solidFill>
                <a:latin typeface="Aptos Display"/>
              </a:rPr>
              <a:t>Real-World Development with ASP.NET Blazor,
EF Core, .NET Aspire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E7E34"/>
                </a:solidFill>
                <a:latin typeface="Aptos"/>
              </a:rPr>
              <a:t>Full-Day Hands-On Workshop</a:t>
            </a:r>
          </a:p>
          <a:p>
            <a:r>
              <a:rPr sz="1700">
                <a:solidFill>
                  <a:srgbClr val="FFFFFF"/>
                </a:solidFill>
                <a:latin typeface="Aptos"/>
              </a:rPr>
              <a:t>Build it. Question it. Improve it. Ship it responsibly.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657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What We’re Building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2328"/>
                </a:solidFill>
                <a:latin typeface="Aptos"/>
              </a:rPr>
              <a:t>• A realistic business application — not a collection of disconnected demos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2328"/>
                </a:solidFill>
                <a:latin typeface="Aptos"/>
              </a:rPr>
              <a:t>• A progression from default templates to a production-oriented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3405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Hands-on checkpoints using phased Git commits so everyone can recover quickly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924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2328"/>
                </a:solidFill>
                <a:latin typeface="Aptos"/>
              </a:rPr>
              <a:t>• A system that combines UI, data, identity, caching, observability, distributed services and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50791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2328"/>
                </a:solidFill>
                <a:latin typeface="Aptos"/>
              </a:rPr>
              <a:t>• Engineering judgment: understanding why and when to add each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01D15-A481-EBB2-F1CD-89F3A7BD4671}"/>
              </a:ext>
            </a:extLst>
          </p:cNvPr>
          <p:cNvSpPr txBox="1"/>
          <p:nvPr/>
        </p:nvSpPr>
        <p:spPr>
          <a:xfrm>
            <a:off x="868680" y="4613148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2328"/>
                </a:solidFill>
                <a:latin typeface="Aptos"/>
              </a:rPr>
              <a:t>• </a:t>
            </a:r>
            <a:r>
              <a:rPr lang="en-US" sz="2000" dirty="0">
                <a:solidFill>
                  <a:srgbClr val="1E2328"/>
                </a:solidFill>
                <a:latin typeface="Aptos"/>
              </a:rPr>
              <a:t>Steps &amp; Repo for Usage: </a:t>
            </a:r>
            <a:r>
              <a:rPr lang="en-US" sz="2000" dirty="0">
                <a:solidFill>
                  <a:srgbClr val="1E2328"/>
                </a:solidFill>
                <a:latin typeface="Aptos"/>
                <a:hlinkClick r:id="rId2"/>
              </a:rPr>
              <a:t>https://github.com/mitchelsellers/2026-real-world-blazor-workshop</a:t>
            </a:r>
            <a:r>
              <a:rPr lang="en-US" sz="2000" dirty="0">
                <a:solidFill>
                  <a:srgbClr val="1E2328"/>
                </a:solidFill>
                <a:latin typeface="Aptos"/>
              </a:rPr>
              <a:t> </a:t>
            </a:r>
            <a:endParaRPr sz="2000" dirty="0">
              <a:solidFill>
                <a:srgbClr val="1E2328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The Day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98804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dirty="0">
                <a:solidFill>
                  <a:srgbClr val="697582"/>
                </a:solidFill>
                <a:latin typeface="Aptos"/>
              </a:rPr>
              <a:t>Timings are approximate!</a:t>
            </a:r>
            <a:endParaRPr sz="1300" dirty="0">
              <a:solidFill>
                <a:srgbClr val="697582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658368" cy="658368"/>
          </a:xfrm>
          <a:prstGeom prst="ellipse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9:00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9903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21F2F"/>
                </a:solidFill>
                <a:latin typeface="Aptos"/>
              </a:rPr>
              <a:t>Modern .NET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41732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582"/>
                </a:solidFill>
                <a:latin typeface="Aptos"/>
              </a:rPr>
              <a:t>Slides + production mindset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58368" cy="658368"/>
          </a:xfrm>
          <a:prstGeom prst="ellipse">
            <a:avLst/>
          </a:prstGeom>
          <a:solidFill>
            <a:srgbClr val="529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9339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1F2F"/>
                </a:solidFill>
                <a:latin typeface="Aptos"/>
              </a:rPr>
              <a:t>From Zero to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01168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582"/>
                </a:solidFill>
                <a:latin typeface="Aptos"/>
              </a:rPr>
              <a:t>Templates + solution structure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606040"/>
            <a:ext cx="658368" cy="658368"/>
          </a:xfrm>
          <a:prstGeom prst="ellipse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8775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1F2F"/>
                </a:solidFill>
                <a:latin typeface="Aptos"/>
              </a:rPr>
              <a:t>Data &amp; EF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0604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582"/>
                </a:solidFill>
                <a:latin typeface="Aptos"/>
              </a:rPr>
              <a:t>Modeling + performance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00400"/>
            <a:ext cx="658368" cy="658368"/>
          </a:xfrm>
          <a:prstGeom prst="ellipse">
            <a:avLst/>
          </a:prstGeom>
          <a:solidFill>
            <a:srgbClr val="6F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12:00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8211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1F2F"/>
                </a:solidFill>
                <a:latin typeface="Aptos"/>
              </a:rPr>
              <a:t>Production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0040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582"/>
                </a:solidFill>
                <a:latin typeface="Aptos"/>
              </a:rPr>
              <a:t>Services + API boundaries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94760"/>
            <a:ext cx="658368" cy="658368"/>
          </a:xfrm>
          <a:prstGeom prst="ellipse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1:45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7647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1F2F"/>
                </a:solidFill>
                <a:latin typeface="Aptos"/>
              </a:rPr>
              <a:t>Identity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79476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582"/>
                </a:solidFill>
                <a:latin typeface="Aptos"/>
              </a:rPr>
              <a:t>Authentication + authorization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389120"/>
            <a:ext cx="658368" cy="658368"/>
          </a:xfrm>
          <a:prstGeom prst="ellipse">
            <a:avLst/>
          </a:prstGeom>
          <a:solidFill>
            <a:srgbClr val="529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7083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1F2F"/>
                </a:solidFill>
                <a:latin typeface="Aptos"/>
              </a:rPr>
              <a:t>Distributed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38912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582"/>
                </a:solidFill>
                <a:latin typeface="Aptos"/>
              </a:rPr>
              <a:t>Aspire + Redis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983480"/>
            <a:ext cx="658368" cy="658368"/>
          </a:xfrm>
          <a:prstGeom prst="ellipse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96519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1F2F"/>
                </a:solidFill>
                <a:latin typeface="Aptos"/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98348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582"/>
                </a:solidFill>
                <a:latin typeface="Aptos"/>
              </a:rPr>
              <a:t>Serilog + OpenTelemetry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577840"/>
            <a:ext cx="658368" cy="658368"/>
          </a:xfrm>
          <a:prstGeom prst="ellipse">
            <a:avLst/>
          </a:prstGeom>
          <a:solidFill>
            <a:srgbClr val="3D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559552"/>
            <a:ext cx="3931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1F2F"/>
                </a:solidFill>
                <a:latin typeface="Aptos"/>
              </a:rPr>
              <a:t>AI + Production Finish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57784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582"/>
                </a:solidFill>
                <a:latin typeface="Aptos"/>
              </a:rPr>
              <a:t>Runtime AI + final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728" cy="4389120"/>
          </a:xfrm>
          <a:prstGeom prst="rect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E7E34"/>
                </a:solidFill>
                <a:latin typeface="Aptos"/>
              </a:rPr>
              <a:t>WORKSHOP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“It works — but would we actually ship it?”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4290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2DCE6"/>
                </a:solidFill>
                <a:latin typeface="Aptos"/>
              </a:rPr>
              <a:t>Every stage begins with something functional, then asks what is missing for a real production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The Example Application: ProjectHub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52929D"/>
                </a:solidFill>
                <a:latin typeface="Aptos Display"/>
              </a:rPr>
              <a:t>The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Projects and project membership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Work items with status, priority and assignee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Comments and activity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Dashboard summaries and project 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2929D"/>
                </a:solidFill>
                <a:latin typeface="Aptos Display"/>
              </a:rPr>
              <a:t>Why It Works for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Everyone understands the business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Natural need for authorization and data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Useful caching and observability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AI can enhance the app without becoming the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1486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21F2F"/>
                </a:solidFill>
                <a:latin typeface="Aptos Display"/>
              </a:rPr>
              <a:t>File -&gt; New Project -&gt; Yay!</a:t>
            </a:r>
            <a:endParaRPr sz="2800" b="1" dirty="0">
              <a:solidFill>
                <a:srgbClr val="121F2F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1828800" cy="914400"/>
          </a:xfrm>
          <a:prstGeom prst="round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743200"/>
            <a:ext cx="1828800" cy="914400"/>
          </a:xfrm>
          <a:prstGeom prst="roundRect">
            <a:avLst/>
          </a:prstGeom>
          <a:solidFill>
            <a:srgbClr val="529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Blazor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743200"/>
            <a:ext cx="1828800" cy="914400"/>
          </a:xfrm>
          <a:prstGeom prst="roundRect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EF 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743200"/>
            <a:ext cx="1828800" cy="914400"/>
          </a:xfrm>
          <a:prstGeom prst="roundRect">
            <a:avLst/>
          </a:prstGeom>
          <a:solidFill>
            <a:srgbClr val="6F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SQL Server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3200400"/>
            <a:ext cx="777240" cy="0"/>
          </a:xfrm>
          <a:prstGeom prst="line">
            <a:avLst/>
          </a:prstGeom>
          <a:ln w="25400">
            <a:solidFill>
              <a:srgbClr val="69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15000" y="3200400"/>
            <a:ext cx="777240" cy="0"/>
          </a:xfrm>
          <a:prstGeom prst="line">
            <a:avLst/>
          </a:prstGeom>
          <a:ln w="25400">
            <a:solidFill>
              <a:srgbClr val="69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75320" y="3200400"/>
            <a:ext cx="777240" cy="0"/>
          </a:xfrm>
          <a:prstGeom prst="line">
            <a:avLst/>
          </a:prstGeom>
          <a:ln w="25400">
            <a:solidFill>
              <a:srgbClr val="69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8036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BC4343"/>
                </a:solidFill>
                <a:latin typeface="Aptos Display"/>
              </a:rPr>
              <a:t>It runs. But would we ship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Where We’re Heading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2468880"/>
            <a:ext cx="2926080" cy="1143000"/>
          </a:xfrm>
          <a:prstGeom prst="roundRect">
            <a:avLst/>
          </a:prstGeom>
          <a:solidFill>
            <a:srgbClr val="529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Aptos"/>
              </a:rPr>
              <a:t>ProjectHub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
Blazor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2240280" cy="822960"/>
          </a:xfrm>
          <a:prstGeom prst="roundRect">
            <a:avLst/>
          </a:prstGeom>
          <a:solidFill>
            <a:srgbClr val="6F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SQL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97680"/>
            <a:ext cx="2240280" cy="822960"/>
          </a:xfrm>
          <a:prstGeom prst="roundRect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Redis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63040"/>
            <a:ext cx="2240280" cy="822960"/>
          </a:xfrm>
          <a:prstGeom prst="round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4297680"/>
            <a:ext cx="2240280" cy="822960"/>
          </a:xfrm>
          <a:prstGeom prst="roundRect">
            <a:avLst/>
          </a:prstGeom>
          <a:solidFill>
            <a:srgbClr val="3D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AI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983480"/>
            <a:ext cx="2240280" cy="822960"/>
          </a:xfrm>
          <a:prstGeom prst="roundRect">
            <a:avLst/>
          </a:prstGeom>
          <a:solidFill>
            <a:srgbClr val="12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Logging + OTel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960120"/>
            <a:ext cx="2240280" cy="822960"/>
          </a:xfrm>
          <a:prstGeom prst="round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API /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943600"/>
            <a:ext cx="7635240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529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121F2F"/>
                </a:solidFill>
                <a:latin typeface="Aptos"/>
              </a:rPr>
              <a:t>.NET Aspire • orchestration • service discovery • 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728" cy="438912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874A6"/>
                </a:solidFill>
                <a:latin typeface="Aptos"/>
              </a:rPr>
              <a:t>STAGE 1 • 9:00–10:00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Modern .NET Architecture &amp; Production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4290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2DCE6"/>
                </a:solidFill>
                <a:latin typeface="Aptos"/>
              </a:rPr>
              <a:t>Establish the vocabulary, architectural choices and constraints before writing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What Does “Production Ready” Mean?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EE7E34"/>
                </a:solidFill>
                <a:latin typeface="Aptos Display"/>
              </a:rPr>
              <a:t>It Is More Than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2328"/>
                </a:solidFill>
                <a:latin typeface="Aptos"/>
              </a:rPr>
              <a:t>• The application compiles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2328"/>
                </a:solidFill>
                <a:latin typeface="Aptos"/>
              </a:rPr>
              <a:t>• The happy path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2328"/>
                </a:solidFill>
                <a:latin typeface="Aptos"/>
              </a:rPr>
              <a:t>• A database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2328"/>
                </a:solidFill>
                <a:latin typeface="Aptos"/>
              </a:rPr>
              <a:t>• The UI looks polished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EE7E34"/>
                </a:solidFill>
                <a:latin typeface="Aptos Display"/>
              </a:rPr>
              <a:t>It Also Includes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2328"/>
                </a:solidFill>
                <a:latin typeface="Aptos"/>
              </a:rPr>
              <a:t>• Security and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2328"/>
                </a:solidFill>
                <a:latin typeface="Aptos"/>
              </a:rPr>
              <a:t>• Performance and 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2328"/>
                </a:solidFill>
                <a:latin typeface="Aptos"/>
              </a:rPr>
              <a:t>• Observability and 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1E2328"/>
                </a:solidFill>
                <a:latin typeface="Aptos"/>
              </a:rPr>
              <a:t>• Resiliency, operations and maintainability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Architecture Decisions We’ll Make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1E2328"/>
                </a:solidFill>
                <a:latin typeface="Aptos"/>
              </a:rPr>
              <a:t>• Blazor rendering model: Interactive Server, </a:t>
            </a:r>
            <a:r>
              <a:rPr sz="2000" dirty="0" err="1">
                <a:solidFill>
                  <a:srgbClr val="1E2328"/>
                </a:solidFill>
                <a:latin typeface="Aptos"/>
              </a:rPr>
              <a:t>WebAssembly</a:t>
            </a:r>
            <a:r>
              <a:rPr sz="2000" dirty="0">
                <a:solidFill>
                  <a:srgbClr val="1E2328"/>
                </a:solidFill>
                <a:latin typeface="Aptos"/>
              </a:rPr>
              <a:t> or a combination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Modular monolith first — distributed services only where they add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3405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Clear UI, application, domain and infrastructure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924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SQL for durable state; Redis for selected cached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50791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Authentication and authorization as architecture concerns, not finishing touches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5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AI as an enhancement with explicit failure and security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F2F"/>
                </a:solidFill>
                <a:latin typeface="Aptos Display"/>
              </a:rPr>
              <a:t>Rendering mode sets where .NET runs—and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88136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7582"/>
                </a:solidFill>
                <a:latin typeface="Aptos"/>
              </a:rPr>
              <a:t>The component model stays consistent; execution location, startup, and connection trade-offs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205740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7582"/>
                </a:solidFill>
                <a:latin typeface="Aptos"/>
              </a:rPr>
              <a:t>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463040"/>
            <a:ext cx="201168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7582"/>
                </a:solidFill>
                <a:latin typeface="Aptos"/>
              </a:rPr>
              <a:t>WHERE .NET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463040"/>
            <a:ext cx="379476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7582"/>
                </a:solidFill>
                <a:latin typeface="Aptos"/>
              </a:rPr>
              <a:t>INTERACTION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463040"/>
            <a:ext cx="224028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7582"/>
                </a:solidFill>
                <a:latin typeface="Aptos"/>
              </a:rPr>
              <a:t>KEY TRADE-OFF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783080"/>
            <a:ext cx="10844784" cy="0"/>
          </a:xfrm>
          <a:prstGeom prst="line">
            <a:avLst/>
          </a:prstGeom>
          <a:ln w="15875">
            <a:solidFill>
              <a:srgbClr val="12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58368" y="1965960"/>
            <a:ext cx="73152" cy="713232"/>
          </a:xfrm>
          <a:prstGeom prst="rect">
            <a:avLst/>
          </a:prstGeom>
          <a:solidFill>
            <a:srgbClr val="697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874519"/>
            <a:ext cx="190195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2F"/>
                </a:solidFill>
                <a:latin typeface="Aptos Display"/>
              </a:rPr>
              <a:t>Static SSR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874519"/>
            <a:ext cx="190195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97582"/>
                </a:solidFill>
                <a:latin typeface="Aptos"/>
              </a:rP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874519"/>
            <a:ext cx="3794760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328"/>
                </a:solidFill>
                <a:latin typeface="Aptos"/>
              </a:rPr>
              <a:t>HTML is produced per request; no .NET event handling in the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874519"/>
            <a:ext cx="226771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328"/>
                </a:solidFill>
                <a:latin typeface="Aptos"/>
              </a:rPr>
              <a:t>Simple, content-first pages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2834639"/>
            <a:ext cx="10844784" cy="0"/>
          </a:xfrm>
          <a:prstGeom prst="line">
            <a:avLst/>
          </a:prstGeom>
          <a:ln w="1016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8368" y="2980944"/>
            <a:ext cx="73152" cy="713232"/>
          </a:xfrm>
          <a:prstGeom prst="rect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889504"/>
            <a:ext cx="190195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2F"/>
                </a:solidFill>
                <a:latin typeface="Aptos Display"/>
              </a:rPr>
              <a:t>Interactive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889504"/>
            <a:ext cx="190195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E7E34"/>
                </a:solidFill>
                <a:latin typeface="Aptos"/>
              </a:rPr>
              <a:t>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889504"/>
            <a:ext cx="3794760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328"/>
                </a:solidFill>
                <a:latin typeface="Aptos"/>
              </a:rPr>
              <a:t>UI events travel over a SignalR circuit; component code stays server-side.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889504"/>
            <a:ext cx="226771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328"/>
                </a:solidFill>
                <a:latin typeface="Aptos"/>
              </a:rPr>
              <a:t>Fast startup; live connection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3849624"/>
            <a:ext cx="10844784" cy="0"/>
          </a:xfrm>
          <a:prstGeom prst="line">
            <a:avLst/>
          </a:prstGeom>
          <a:ln w="1016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58368" y="3995927"/>
            <a:ext cx="73152" cy="713232"/>
          </a:xfrm>
          <a:prstGeom prst="rect">
            <a:avLst/>
          </a:prstGeom>
          <a:solidFill>
            <a:srgbClr val="3D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904487"/>
            <a:ext cx="190195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2F"/>
                </a:solidFill>
                <a:latin typeface="Aptos Display"/>
              </a:rPr>
              <a:t>Interactive WebAssembly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904487"/>
            <a:ext cx="190195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D8B62"/>
                </a:solidFill>
                <a:latin typeface="Aptos"/>
              </a:rPr>
              <a:t>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904487"/>
            <a:ext cx="3794760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328"/>
                </a:solidFill>
                <a:latin typeface="Aptos"/>
              </a:rPr>
              <a:t>The .NET runtime and app download, then components execute client-side.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904487"/>
            <a:ext cx="226771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328"/>
                </a:solidFill>
                <a:latin typeface="Aptos"/>
              </a:rPr>
              <a:t>Larger initial payload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4864607"/>
            <a:ext cx="10844784" cy="0"/>
          </a:xfrm>
          <a:prstGeom prst="line">
            <a:avLst/>
          </a:prstGeom>
          <a:ln w="1016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368" y="5010912"/>
            <a:ext cx="73152" cy="713232"/>
          </a:xfrm>
          <a:prstGeom prst="rect">
            <a:avLst/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919472"/>
            <a:ext cx="190195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F2F"/>
                </a:solidFill>
                <a:latin typeface="Aptos Display"/>
              </a:rPr>
              <a:t>Interactive Auto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919472"/>
            <a:ext cx="190195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C78A8"/>
                </a:solidFill>
                <a:latin typeface="Aptos"/>
              </a:rPr>
              <a:t>Server → browser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919472"/>
            <a:ext cx="3794760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328"/>
                </a:solidFill>
                <a:latin typeface="Aptos"/>
              </a:rPr>
              <a:t>Server on the first visit; WebAssembly on later visits after the bundle downloads.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919472"/>
            <a:ext cx="2267712" cy="8961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328"/>
                </a:solidFill>
                <a:latin typeface="Aptos"/>
              </a:rPr>
              <a:t>Blends startup + client execution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73152" cy="301752"/>
          </a:xfrm>
          <a:prstGeom prst="rect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870448"/>
            <a:ext cx="7818120" cy="43891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1F2F"/>
                </a:solidFill>
                <a:latin typeface="Aptos"/>
              </a:rPr>
              <a:t>Choose per component: balance latency, connection dependence, download size, and scale.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5879592"/>
            <a:ext cx="2788920" cy="40233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97582"/>
                </a:solidFill>
                <a:latin typeface="Aptos"/>
              </a:rPr>
              <a:t>Source: Microsoft Learn, .NET 10 render modes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F2F"/>
                </a:solidFill>
                <a:latin typeface="Aptos Display"/>
              </a:rPr>
              <a:t>Interactive Server makes the network part of every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97582"/>
                </a:solidFill>
                <a:latin typeface="Aptos"/>
              </a:rPr>
              <a:t>The browser renders the UI; component code and circuit state remain on the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27632"/>
            <a:ext cx="187451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7582"/>
                </a:solidFill>
                <a:latin typeface="Aptos"/>
              </a:rP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7192" y="1627632"/>
            <a:ext cx="1874519" cy="34747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7582"/>
                </a:solidFill>
                <a:latin typeface="Aptos"/>
              </a:rPr>
              <a:t>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192024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1F2F"/>
                </a:solidFill>
                <a:latin typeface="Aptos Display"/>
              </a:rPr>
              <a:t>DOM + 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08592" y="1938528"/>
            <a:ext cx="210312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1F2F"/>
                </a:solidFill>
                <a:latin typeface="Aptos Display"/>
              </a:rPr>
              <a:t>.NET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86584"/>
            <a:ext cx="192024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7582"/>
                </a:solidFill>
                <a:latin typeface="Aptos"/>
              </a:rPr>
              <a:t>Thin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8592" y="2386584"/>
            <a:ext cx="210312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7582"/>
                </a:solidFill>
                <a:latin typeface="Aptos"/>
              </a:rPr>
              <a:t>Stateful circuit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2" y="2011680"/>
            <a:ext cx="6126480" cy="2286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07792" y="1627632"/>
            <a:ext cx="612648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E7E34"/>
                </a:solidFill>
                <a:latin typeface="Aptos"/>
              </a:rPr>
              <a:t>PERSISTENT SIGNALR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29968"/>
            <a:ext cx="598932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7E34"/>
                </a:solidFill>
                <a:latin typeface="Aptos"/>
              </a:rPr>
              <a:t>EVENTS + JS CALLS 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414016"/>
            <a:ext cx="598932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D8B62"/>
                </a:solidFill>
                <a:latin typeface="Aptos"/>
              </a:rPr>
              <a:t>←   RENDER DIFFS + DOM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788920"/>
            <a:ext cx="598932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7582"/>
                </a:solidFill>
                <a:latin typeface="Aptos"/>
              </a:rPr>
              <a:t>Latency and connection quality are now part of UX.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7792" y="3136392"/>
            <a:ext cx="6126480" cy="22860"/>
          </a:xfrm>
          <a:prstGeom prst="rect">
            <a:avLst/>
          </a:prstGeom>
          <a:solidFill>
            <a:srgbClr val="D8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383280"/>
            <a:ext cx="1088136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1F2F"/>
                </a:solidFill>
                <a:latin typeface="Aptos Display"/>
              </a:rPr>
              <a:t>What this means for developers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877056"/>
            <a:ext cx="3154680" cy="41148"/>
          </a:xfrm>
          <a:prstGeom prst="rect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968496"/>
            <a:ext cx="315468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2F"/>
                </a:solidFill>
                <a:latin typeface="Aptos Display"/>
              </a:rPr>
              <a:t>1  Design for interruption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43984"/>
            <a:ext cx="3154680" cy="11155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328"/>
                </a:solidFill>
                <a:latin typeface="Aptos"/>
              </a:rPr>
              <a:t>Reconnect is best-effort—not durable state. Persist critical work beyond circuit memory and give users a clear recovery experience.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877056"/>
            <a:ext cx="3154680" cy="41148"/>
          </a:xfrm>
          <a:prstGeom prst="rect">
            <a:avLst/>
          </a:prstGeom>
          <a:solidFill>
            <a:srgbClr val="3D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968496"/>
            <a:ext cx="315468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2F"/>
                </a:solidFill>
                <a:latin typeface="Aptos Display"/>
              </a:rPr>
              <a:t>2  Budget per-session 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443984"/>
            <a:ext cx="3154680" cy="11155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328"/>
                </a:solidFill>
                <a:latin typeface="Aptos"/>
              </a:rPr>
              <a:t>Each document or tab creates a circuit with server-side component state. Load-test realistic memory use and interaction latency.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2672" y="3877056"/>
            <a:ext cx="3154680" cy="41148"/>
          </a:xfrm>
          <a:prstGeom prst="rect">
            <a:avLst/>
          </a:prstGeom>
          <a:solidFill>
            <a:srgbClr val="3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2" y="3968496"/>
            <a:ext cx="3154680" cy="42062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1F2F"/>
                </a:solidFill>
                <a:latin typeface="Aptos Display"/>
              </a:rPr>
              <a:t>3  Engineer the deployment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4443984"/>
            <a:ext cx="3154680" cy="11155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2328"/>
                </a:solidFill>
                <a:latin typeface="Aptos"/>
              </a:rPr>
              <a:t>Prefer WebSockets. For scale-out, plan connection capacity and session affinity—or use Azure SignalR Service.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696712"/>
            <a:ext cx="73152" cy="320040"/>
          </a:xfrm>
          <a:prstGeom prst="rect">
            <a:avLst/>
          </a:prstGeom>
          <a:solidFill>
            <a:srgbClr val="E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5623560"/>
            <a:ext cx="699516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1F2F"/>
                </a:solidFill>
                <a:latin typeface="Aptos Display"/>
              </a:rPr>
              <a:t>Treat disconnects, memory, and scale as application design concerns—not hosting details.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669280"/>
            <a:ext cx="356616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97582"/>
                </a:solidFill>
                <a:latin typeface="Aptos"/>
              </a:rPr>
              <a:t>Sources: Microsoft Learn — server hosting, state, SignalR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AI Has Two Roles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8B62"/>
                </a:solidFill>
                <a:latin typeface="Aptos Display"/>
              </a:rPr>
              <a:t>Build-Time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Generate scaffolding and repetitive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Review and refactor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Generate tests and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Challenge AI suggestions before accepting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8B62"/>
                </a:solidFill>
                <a:latin typeface="Aptos Display"/>
              </a:rPr>
              <a:t>Runtime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Summarize project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Identify areas needing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Recommend next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Remain optional to core application functionality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945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21F2F"/>
                </a:solidFill>
                <a:latin typeface="Aptos Display"/>
              </a:rPr>
              <a:t>Why</a:t>
            </a:r>
            <a:r>
              <a:rPr sz="2800" b="1" dirty="0">
                <a:solidFill>
                  <a:srgbClr val="121F2F"/>
                </a:solidFill>
                <a:latin typeface="Aptos Display"/>
              </a:rPr>
              <a:t> Aspir</a:t>
            </a:r>
            <a:r>
              <a:rPr lang="en-US" sz="2800" b="1" dirty="0">
                <a:solidFill>
                  <a:srgbClr val="121F2F"/>
                </a:solidFill>
                <a:latin typeface="Aptos Display"/>
              </a:rPr>
              <a:t>e?</a:t>
            </a:r>
            <a:endParaRPr sz="2800" b="1" dirty="0">
              <a:solidFill>
                <a:srgbClr val="121F2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Application composition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SQL Server and Redis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3405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Service discovery and connection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924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Consistent ServiceDefaults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50791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Local developer dashboard and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5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A better local model for a distributed production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From Logs to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E7E34"/>
                </a:solidFill>
                <a:latin typeface="Aptos Display"/>
              </a:rPr>
              <a:t>Structured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ILogger&lt;T&gt; and Serilog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Properties instead of string concatenation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Scopes and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Useful log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E7E34"/>
                </a:solidFill>
                <a:latin typeface="Aptos Display"/>
              </a:rPr>
              <a:t>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OpenTelemetry traces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Distributed spans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Aspire dashboard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728" cy="4389120"/>
          </a:xfrm>
          <a:prstGeom prst="rect">
            <a:avLst/>
          </a:prstGeom>
          <a:solidFill>
            <a:srgbClr val="3D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D8B62"/>
                </a:solidFill>
                <a:latin typeface="Aptos"/>
              </a:rPr>
              <a:t>STAGE 8 • 4:15–5:00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AI Enhancement &amp; Production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4290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2DCE6"/>
                </a:solidFill>
                <a:latin typeface="Aptos"/>
              </a:rPr>
              <a:t>Add AI to a business application without making core functionality dependent on 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Project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Generate a concise project status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Highlight overdue or unassigned high-priority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3405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Summarize recent activity and comments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924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Recommend next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50791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Return structured output that the UI can reliably consume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Production AI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8B62"/>
                </a:solidFill>
                <a:latin typeface="Aptos Display"/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IChatClient / provider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Latency and timeouts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Cost and token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Caching repeatable 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8B62"/>
                </a:solidFill>
                <a:latin typeface="Aptos Display"/>
              </a:rPr>
              <a:t>Risk &amp;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Sensitive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Grounding and context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Human review and failure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What Happens When AI Is Down?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Project creation still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Work items still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3405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Authorization still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9242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Dashboards still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50791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Only the optional intelligence feature degrades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5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E2328"/>
                </a:solidFill>
                <a:latin typeface="Aptos"/>
              </a:rPr>
              <a:t>• Design optional dependencies to fail 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What We Added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2929D"/>
                </a:solidFill>
                <a:latin typeface="Aptos Display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Blazor UI + application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EF Core + performance-aware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Identity +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API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70916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2929D"/>
                </a:solidFill>
                <a:latin typeface="Aptos Display"/>
              </a:rPr>
              <a:t>Production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Aspire +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61488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Structured logging +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28416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Health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95344"/>
            <a:ext cx="45262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E2328"/>
                </a:solidFill>
                <a:latin typeface="Aptos"/>
              </a:rPr>
              <a:t>• AI enhancement with failure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2F"/>
                </a:solidFill>
                <a:latin typeface="Aptos Display"/>
              </a:rPr>
              <a:t>What Would Still Be Needed Before Production?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Automated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47672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Secrets / Key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47672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Deployment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946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Backups &amp; disaster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946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Load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9125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19125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Security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130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Dependency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8130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CSP / security headers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Monitoring &amp; alerting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4348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Scaling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56632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Database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056632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E2328"/>
                </a:solidFill>
                <a:latin typeface="Aptos"/>
              </a:rPr>
              <a:t>✓ Cost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582"/>
                </a:solidFill>
                <a:latin typeface="Aptos"/>
              </a:rPr>
              <a:t>From Idea to Production • Full-Day Workshop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Production readiness isn’t a NuGet package
or an architecture diagram.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E7E34"/>
                </a:solidFill>
                <a:latin typeface="Aptos Display"/>
              </a:rPr>
              <a:t>It is a series of engineering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57784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D2DCE6"/>
                </a:solidFill>
                <a:latin typeface="Aptos"/>
              </a:rPr>
              <a:t>Build it. Observe it. Question it. Improve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1327</Words>
  <Application>Microsoft Office PowerPoint</Application>
  <PresentationFormat>Widescreen</PresentationFormat>
  <Paragraphs>234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Mitch</dc:creator>
  <cp:keywords/>
  <dc:description>generated using python-pptx</dc:description>
  <cp:lastModifiedBy>Mitchel Sellers</cp:lastModifiedBy>
  <cp:revision>3</cp:revision>
  <dcterms:created xsi:type="dcterms:W3CDTF">2013-01-27T09:14:16Z</dcterms:created>
  <dcterms:modified xsi:type="dcterms:W3CDTF">2026-09-06T05:50:34Z</dcterms:modified>
  <cp:category/>
</cp:coreProperties>
</file>